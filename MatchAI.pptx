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5143500" cx="9144000"/>
  <p:notesSz cx="6858000" cy="9144000"/>
  <p:embeddedFontLst>
    <p:embeddedFont>
      <p:font typeface="Roboto"/>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regular.fntdata"/><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Roboto-italic.fntdata"/><Relationship Id="rId10" Type="http://schemas.openxmlformats.org/officeDocument/2006/relationships/slide" Target="slides/slide5.xml"/><Relationship Id="rId32" Type="http://schemas.openxmlformats.org/officeDocument/2006/relationships/font" Target="fonts/Roboto-bold.fntdata"/><Relationship Id="rId13" Type="http://schemas.openxmlformats.org/officeDocument/2006/relationships/slide" Target="slides/slide8.xml"/><Relationship Id="rId12" Type="http://schemas.openxmlformats.org/officeDocument/2006/relationships/slide" Target="slides/slide7.xml"/><Relationship Id="rId34" Type="http://schemas.openxmlformats.org/officeDocument/2006/relationships/font" Target="fonts/Roboto-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Good afternoon everyone, we are team Artificial Idiots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With the rise of artificial intelligence, companies from all over the globe are investing to leverage the most out of this novel tech. American Express, as a leader in banking and finances, is no exception to this. To stay ahead amidst fierce competition, it is necessary to employ AI-powered solutions in daily operations, and this is where we introduce MatchAI.</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9c93e79b83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9c93e79b83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Before we define MatchAI, let us identify the challenges we are targeting first.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Consumers receive generic, non-personalized deals</a:t>
            </a:r>
            <a:endParaRPr/>
          </a:p>
          <a:p>
            <a:pPr indent="0" lvl="0" marL="0" rtl="0" algn="l">
              <a:spcBef>
                <a:spcPts val="0"/>
              </a:spcBef>
              <a:spcAft>
                <a:spcPts val="0"/>
              </a:spcAft>
              <a:buNone/>
            </a:pPr>
            <a:r>
              <a:rPr lang="en"/>
              <a:t>Merchants, especially small and new ones, may lack the expertise and struggle with visibility and customer targeting</a:t>
            </a:r>
            <a:endParaRPr/>
          </a:p>
          <a:p>
            <a:pPr indent="0" lvl="0" marL="0" rtl="0" algn="l">
              <a:spcBef>
                <a:spcPts val="0"/>
              </a:spcBef>
              <a:spcAft>
                <a:spcPts val="0"/>
              </a:spcAft>
              <a:buNone/>
            </a:pPr>
            <a:r>
              <a:rPr lang="en"/>
              <a:t>Traditional marketing models are inefficient nowadays with the rapid evolution of the Internet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Therefore, our goal is to create a scalable and trustworthy GenAI-based system to automatically study real-time trends, create meaningful experiences for customers, and preserve fairness in merchant exposure.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9d1b18ee2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9d1b18ee2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Let’s look at some existing examples in the industry:</a:t>
            </a:r>
            <a:endParaRPr/>
          </a:p>
          <a:p>
            <a:pPr indent="-298450" lvl="0" marL="457200" rtl="0" algn="l">
              <a:spcBef>
                <a:spcPts val="0"/>
              </a:spcBef>
              <a:spcAft>
                <a:spcPts val="0"/>
              </a:spcAft>
              <a:buSzPts val="1100"/>
              <a:buChar char="-"/>
            </a:pPr>
            <a:r>
              <a:rPr lang="en"/>
              <a:t>Capital One’s Chat Concierge</a:t>
            </a:r>
            <a:endParaRPr/>
          </a:p>
          <a:p>
            <a:pPr indent="-298450" lvl="0" marL="457200" rtl="0" algn="l">
              <a:spcBef>
                <a:spcPts val="0"/>
              </a:spcBef>
              <a:spcAft>
                <a:spcPts val="0"/>
              </a:spcAft>
              <a:buSzPts val="1100"/>
              <a:buChar char="-"/>
            </a:pPr>
            <a:r>
              <a:rPr lang="en"/>
              <a:t>JPMC’s AI assistants</a:t>
            </a:r>
            <a:endParaRPr/>
          </a:p>
          <a:p>
            <a:pPr indent="-298450" lvl="0" marL="457200" rtl="0" algn="l">
              <a:spcBef>
                <a:spcPts val="0"/>
              </a:spcBef>
              <a:spcAft>
                <a:spcPts val="0"/>
              </a:spcAft>
              <a:buSzPts val="1100"/>
              <a:buChar char="-"/>
            </a:pPr>
            <a:r>
              <a:rPr lang="en"/>
              <a:t>Apple Intelligence</a:t>
            </a:r>
            <a:endParaRPr/>
          </a:p>
          <a:p>
            <a:pPr indent="-298450" lvl="0" marL="457200" rtl="0" algn="l">
              <a:spcBef>
                <a:spcPts val="0"/>
              </a:spcBef>
              <a:spcAft>
                <a:spcPts val="0"/>
              </a:spcAft>
              <a:buSzPts val="1100"/>
              <a:buChar char="-"/>
            </a:pPr>
            <a:r>
              <a:rPr lang="en"/>
              <a:t>Google Wallet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These are all strong examples leveraging the powers of this novel technology to enhance the customers’ experience.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 how does our MatchAI stand out?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9c93e79b83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9c93e79b83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MatchAI is a GenAI-driven matchmaking engine that can be accessed from the existing AmEx app.</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It has machine learning at its core combined with generative AI to intelligently draw the connection between merchants and consumers by offering personalized deals to consumers whilst assisting merchants in expanding their business.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9c93e79b83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9c93e79b83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design revolves around AmEx’s core principles of Productivity, Protection, and Growth.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First, this process is automatic, therefore allowing operations between staff, members, and partners to be more efficient.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Second, alongside the existing closed-loop network, our </a:t>
            </a:r>
            <a:r>
              <a:rPr lang="en"/>
              <a:t>design ensures data privacy through protective measures.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Lastly, our model is centered around better connecting merchants and consumers to create unique experiences for our cardmembers, and this design offers transparent progression for merchants wishing to expand their business. With this, we capture our two key elements of success: our partners, and our customers.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9c93e79b83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9c93e79b83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let us dive a little deeper into how it all works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9c93e79b83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9c93e79b83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MatchAI is a modular plugin whose functionality can be accessed from the American Express app</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It involves 3 layers: Data Ingestion, Matchmaking, and Output Generation</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Now, let us dive into each layer.</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9c93e79b83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9c93e79b83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First off, the data ingestion layer. We leverage GenAI’s ability to extract features from raw, un-processed data we can access through secure APIs.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have 3 categories of data.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Contextual Data: These include the temporal and geographical information and how they may influence spending patterns. For example, the system may be more inclined to suggest fine-dining restaurants on paydays or other special occasions such as birthdays or Valentine’s Day.</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9c93e79b83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9c93e79b83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Next, we have consumer data.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It is important to assess a consumer’s ability to spend as well as their preferences in order to make the right recommendations. For instance, as a student who is still financially dependent on parents, I would receive </a:t>
            </a:r>
            <a:r>
              <a:rPr lang="en"/>
              <a:t>mostly</a:t>
            </a:r>
            <a:r>
              <a:rPr lang="en"/>
              <a:t> relatively affordable options. Some categories such as luxurious jewelry, cruises, and first-class flights are not applicable to me and thus will not be recommended.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Lastly, some merchant data is recorded to better categorize and align their offers with a matching audience. In addition to everything listed, we can also incorporate inventory analysis for merchants who wish to opt in. A standard inventory management system might only track volumes of various goods and expiration dates of perishables. In our proposed system, however, we can also tackle seasonal products.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example, it is Halloween today, and Halloween themed products will drop significantly in sales as we enter November. In this case, towards the end of October, the system can suggest deals that bundle other products with themed goods to prevent </a:t>
            </a:r>
            <a:r>
              <a:rPr lang="en"/>
              <a:t>sluggish sales afterwards while also boosting sales elsewhere.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9c93e79b83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9c93e79b83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Second, the matchmaking layer. This is the central part of our design which relies on machine learning to process the features that we extracted in the first layer before computing scores to assess compatibility.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possible approach is a “trio” neural network model.</a:t>
            </a:r>
            <a:endParaRPr/>
          </a:p>
          <a:p>
            <a:pPr indent="0" lvl="0" marL="0" rtl="0" algn="l">
              <a:spcBef>
                <a:spcPts val="0"/>
              </a:spcBef>
              <a:spcAft>
                <a:spcPts val="0"/>
              </a:spcAft>
              <a:buNone/>
            </a:pPr>
            <a:r>
              <a:rPr lang="en"/>
              <a:t>Context, Consumer, and Merchant, which correspond to the three categories of data we mentioned in the first layer.</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9c93e79b83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9c93e79b83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Some considerations vital to this layer are as follows: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need to guarantee some exposure for small merchants and limit it for very large merchants. This ensures support which helps partnerships remain attractive.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need eligibility filters set up too. For example, users under a specified age defined by law may be limited from some offers or the entire feature.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New users and merchants have little records in the system to base suggestions on. For them, we can use consented profile data. The first recommendations for consumers can be based on demographics or local trends and fine-tuned as expenditures accumulate. Recommended deals and exposure can be assigned in a similar fashion to merchants.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Lastly, we need to ensure fairness by </a:t>
            </a:r>
            <a:r>
              <a:rPr lang="en"/>
              <a:t>incorporating</a:t>
            </a:r>
            <a:r>
              <a:rPr lang="en"/>
              <a:t> bias detection and ensuring adequate coverage in training data.</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9c93e79b83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9c93e79b83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And our final layer, the output generation layer, which is responsible for three tasks.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Firstly and most importantly, it needs to translate the outputs in the second layer into natural language. This creates catered explanation behind each recommendation which enhances user experience by personalization.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 sample output might look like this, a short description of the deal itself followed by an </a:t>
            </a:r>
            <a:r>
              <a:rPr lang="en"/>
              <a:t>explanation of why it may be a good recommendation.</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9dc75d52f3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9dc75d52f3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Next up, we have merchant analytics, where we break down data and summarize them in human-interpretable form and identify the best performing offers </a:t>
            </a:r>
            <a:r>
              <a:rPr lang="en"/>
              <a:t>whilst suggesting new ones.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have an example here where we suggest a new offer for Laziji due to its similarity to the popular Kung Pao Chicken meal offer.</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9c93e79b83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9c93e79b83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Finally, it can suggest new potential interests to customers by bundling new experiences with existing favorites.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instance, we can suggest pairing a new and trending movie to a deal for a restaurant visited by the user frequently.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this layer, we have:</a:t>
            </a:r>
            <a:endParaRPr/>
          </a:p>
          <a:p>
            <a:pPr indent="-298450" lvl="0" marL="457200" rtl="0" algn="l">
              <a:spcBef>
                <a:spcPts val="0"/>
              </a:spcBef>
              <a:spcAft>
                <a:spcPts val="0"/>
              </a:spcAft>
              <a:buSzPts val="1100"/>
              <a:buChar char="-"/>
            </a:pPr>
            <a:r>
              <a:rPr lang="en"/>
              <a:t>GenAI to produce the tailored output for consumers and analytics for merchants</a:t>
            </a:r>
            <a:endParaRPr/>
          </a:p>
          <a:p>
            <a:pPr indent="-298450" lvl="0" marL="457200" rtl="0" algn="l">
              <a:spcBef>
                <a:spcPts val="0"/>
              </a:spcBef>
              <a:spcAft>
                <a:spcPts val="0"/>
              </a:spcAft>
              <a:buSzPts val="1100"/>
              <a:buChar char="-"/>
            </a:pPr>
            <a:r>
              <a:rPr lang="en"/>
              <a:t>Channels for consumers to explore deals and merchants to access insights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9d2b52110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9d2b52110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9d2b52110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9d2b52110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Some basic information regarding our demo while we wait for the results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model we used is GPT 3.5 Turbo for it is fast and affordable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Our pipeline is shown in the slide, and it involves two phases where we need API calls: input analysis and output generation.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first API call parses the prompt into a set of intents that will be used to shortlist merchants. The second API call involves generating top offers based on compatibility scores and presenting them in tailored language.</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9c93e79b83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9c93e79b83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that we have had a peek at our demo, let’s take a look at our plan to bring MatchAI to life.</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9c93e79b83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9c93e79b83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ensure that this is a feasible plan, we considered the technical and business aspects, in addition to the sustainability of this system in the long run.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(slide)</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9c93e79b83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9c93e79b83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timeline is divided into three phases:</a:t>
            </a:r>
            <a:endParaRPr/>
          </a:p>
          <a:p>
            <a:pPr indent="-298450" lvl="0" marL="457200" rtl="0" algn="l">
              <a:spcBef>
                <a:spcPts val="0"/>
              </a:spcBef>
              <a:spcAft>
                <a:spcPts val="0"/>
              </a:spcAft>
              <a:buSzPts val="1100"/>
              <a:buChar char="-"/>
            </a:pPr>
            <a:r>
              <a:rPr lang="en"/>
              <a:t>Ideation and prototyping</a:t>
            </a:r>
            <a:endParaRPr/>
          </a:p>
          <a:p>
            <a:pPr indent="-298450" lvl="0" marL="457200" rtl="0" algn="l">
              <a:spcBef>
                <a:spcPts val="0"/>
              </a:spcBef>
              <a:spcAft>
                <a:spcPts val="0"/>
              </a:spcAft>
              <a:buSzPts val="1100"/>
              <a:buChar char="-"/>
            </a:pPr>
            <a:r>
              <a:rPr lang="en"/>
              <a:t>Development and testing</a:t>
            </a:r>
            <a:endParaRPr/>
          </a:p>
          <a:p>
            <a:pPr indent="-298450" lvl="0" marL="457200" rtl="0" algn="l">
              <a:spcBef>
                <a:spcPts val="0"/>
              </a:spcBef>
              <a:spcAft>
                <a:spcPts val="0"/>
              </a:spcAft>
              <a:buSzPts val="1100"/>
              <a:buChar char="-"/>
            </a:pPr>
            <a:r>
              <a:rPr lang="en"/>
              <a:t>Launch and scaling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Let’s go through them sequentially</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9cbb5d84d0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9cbb5d84d0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goal in phase 1 is to build a POC and evaluate its feasibility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need to form cross-disciplinary teams to develop a MVP with GenAI tools and mock data</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9c93e79b83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9c93e79b83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the second phase, we need to validate the system’s adherence to security protocols before we proceed to integrate with actual user data.</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9c93e79b83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9c93e79b83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the final phase, we aim to officially launch this product as a part of the ecosystem by opening slots for partnership in selected regions such as major cities in the US.</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9c93e79b83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9c93e79b83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Finally, let us touch on what we can expect with this.</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9c93e79b83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9c93e79b83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Consumers receive personalized, contextual, and explainable offers, reducing their decision fatigue.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Merchants see increased exposure and revenues, alongside AI-powered promotions and business insights.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system also helps American Express strengthen customer and partner loyalty, thus increasing transaction volumes and developing a more sustainable ecosystem.</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9c93e79b83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9c93e79b83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Thank you for listening, and if you have any questions, feel free to let us know.</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17" name="Google Shape;17;p2"/>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p:txBody>
      </p:sp>
      <p:sp>
        <p:nvSpPr>
          <p:cNvPr id="18" name="Google Shape;18;p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9"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txBox="1"/>
          <p:nvPr>
            <p:ph type="title"/>
          </p:nvPr>
        </p:nvSpPr>
        <p:spPr>
          <a:xfrm>
            <a:off x="598100" y="2152347"/>
            <a:ext cx="8222100" cy="838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27" name="Google Shape;27;p3"/>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 name="Google Shape;35;p4"/>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7" name="Google Shape;37;p4"/>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 name="Shape 38"/>
        <p:cNvGrpSpPr/>
        <p:nvPr/>
      </p:nvGrpSpPr>
      <p:grpSpPr>
        <a:xfrm>
          <a:off x="0" y="0"/>
          <a:ext cx="0" cy="0"/>
          <a:chOff x="0" y="0"/>
          <a:chExt cx="0" cy="0"/>
        </a:xfrm>
      </p:grpSpPr>
      <p:sp>
        <p:nvSpPr>
          <p:cNvPr id="39" name="Google Shape;39;p5"/>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 name="Google Shape;40;p5"/>
          <p:cNvSpPr txBox="1"/>
          <p:nvPr>
            <p:ph idx="1" type="body"/>
          </p:nvPr>
        </p:nvSpPr>
        <p:spPr>
          <a:xfrm>
            <a:off x="3117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5"/>
          <p:cNvSpPr txBox="1"/>
          <p:nvPr>
            <p:ph idx="2" type="body"/>
          </p:nvPr>
        </p:nvSpPr>
        <p:spPr>
          <a:xfrm>
            <a:off x="48324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 name="Google Shape;42;p5"/>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6"/>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 name="Google Shape;45;p6"/>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sp>
        <p:nvSpPr>
          <p:cNvPr id="47" name="Google Shape;47;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8" name="Google Shape;48;p7"/>
          <p:cNvSpPr txBox="1"/>
          <p:nvPr>
            <p:ph idx="1" type="body"/>
          </p:nvPr>
        </p:nvSpPr>
        <p:spPr>
          <a:xfrm>
            <a:off x="311700" y="1465804"/>
            <a:ext cx="2808000" cy="31032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9" name="Google Shape;49;p7"/>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50"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58" name="Google Shape;58;p8"/>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 name="Google Shape;6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62" name="Google Shape;62;p9"/>
          <p:cNvSpPr txBox="1"/>
          <p:nvPr>
            <p:ph type="title"/>
          </p:nvPr>
        </p:nvSpPr>
        <p:spPr>
          <a:xfrm>
            <a:off x="265500" y="1151100"/>
            <a:ext cx="4045200" cy="15645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3" name="Google Shape;63;p9"/>
          <p:cNvSpPr txBox="1"/>
          <p:nvPr>
            <p:ph idx="1" type="subTitle"/>
          </p:nvPr>
        </p:nvSpPr>
        <p:spPr>
          <a:xfrm>
            <a:off x="265500" y="2769001"/>
            <a:ext cx="4045200" cy="12693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65" name="Google Shape;65;p9"/>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68" name="Google Shape;68;p10"/>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9"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11"/>
          <p:cNvSpPr txBox="1"/>
          <p:nvPr>
            <p:ph hasCustomPrompt="1" type="title"/>
          </p:nvPr>
        </p:nvSpPr>
        <p:spPr>
          <a:xfrm>
            <a:off x="311700" y="1256050"/>
            <a:ext cx="8520600" cy="20307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p:nvPr>
            <p:ph idx="1" type="body"/>
          </p:nvPr>
        </p:nvSpPr>
        <p:spPr>
          <a:xfrm>
            <a:off x="311700" y="3369225"/>
            <a:ext cx="8520600" cy="12819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78" name="Google Shape;78;p11"/>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 name="Shape 79"/>
        <p:cNvGrpSpPr/>
        <p:nvPr/>
      </p:nvGrpSpPr>
      <p:grpSpPr>
        <a:xfrm>
          <a:off x="0" y="0"/>
          <a:ext cx="0" cy="0"/>
          <a:chOff x="0" y="0"/>
          <a:chExt cx="0" cy="0"/>
        </a:xfrm>
      </p:grpSpPr>
      <p:sp>
        <p:nvSpPr>
          <p:cNvPr id="80" name="Google Shape;80;p1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MatchAI</a:t>
            </a:r>
            <a:endParaRPr/>
          </a:p>
        </p:txBody>
      </p:sp>
      <p:sp>
        <p:nvSpPr>
          <p:cNvPr id="86" name="Google Shape;86;p13"/>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An AI-Powered Merchant-Consumer Bridge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Our Problem Statement</a:t>
            </a:r>
            <a:endParaRPr/>
          </a:p>
        </p:txBody>
      </p:sp>
      <p:sp>
        <p:nvSpPr>
          <p:cNvPr id="92" name="Google Shape;92;p1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a:t>Challenges</a:t>
            </a:r>
            <a:endParaRPr/>
          </a:p>
          <a:p>
            <a:pPr indent="0" lvl="0" marL="0" rtl="0" algn="l">
              <a:spcBef>
                <a:spcPts val="1200"/>
              </a:spcBef>
              <a:spcAft>
                <a:spcPts val="0"/>
              </a:spcAft>
              <a:buNone/>
            </a:pPr>
            <a:r>
              <a:rPr lang="en"/>
              <a:t>Consumers receive generic, non-personalized deals</a:t>
            </a:r>
            <a:endParaRPr/>
          </a:p>
          <a:p>
            <a:pPr indent="0" lvl="0" marL="0" rtl="0" algn="l">
              <a:spcBef>
                <a:spcPts val="1200"/>
              </a:spcBef>
              <a:spcAft>
                <a:spcPts val="0"/>
              </a:spcAft>
              <a:buNone/>
            </a:pPr>
            <a:r>
              <a:rPr lang="en"/>
              <a:t>Merchants struggle with visibility and customer targeting</a:t>
            </a:r>
            <a:endParaRPr/>
          </a:p>
          <a:p>
            <a:pPr indent="0" lvl="0" marL="0" rtl="0" algn="l">
              <a:spcBef>
                <a:spcPts val="1200"/>
              </a:spcBef>
              <a:spcAft>
                <a:spcPts val="0"/>
              </a:spcAft>
              <a:buNone/>
            </a:pPr>
            <a:r>
              <a:rPr lang="en"/>
              <a:t>Traditional marketing models inefficient</a:t>
            </a:r>
            <a:endParaRPr/>
          </a:p>
          <a:p>
            <a:pPr indent="0" lvl="0" marL="0" rtl="0" algn="l">
              <a:spcBef>
                <a:spcPts val="1200"/>
              </a:spcBef>
              <a:spcAft>
                <a:spcPts val="0"/>
              </a:spcAft>
              <a:buNone/>
            </a:pPr>
            <a:r>
              <a:rPr b="1" lang="en"/>
              <a:t>Goal</a:t>
            </a:r>
            <a:endParaRPr/>
          </a:p>
          <a:p>
            <a:pPr indent="0" lvl="0" marL="0" rtl="0" algn="l">
              <a:spcBef>
                <a:spcPts val="1200"/>
              </a:spcBef>
              <a:spcAft>
                <a:spcPts val="1200"/>
              </a:spcAft>
              <a:buNone/>
            </a:pPr>
            <a:r>
              <a:rPr lang="en"/>
              <a:t>A scalable and trustworthy GenAI-based system to automatically				study real-time trends, create meaningful experiences for 				consumers, and preserve fairness in merchant exposure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5"/>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Artificial Intelligence in Banking &amp; Finance</a:t>
            </a:r>
            <a:endParaRPr/>
          </a:p>
        </p:txBody>
      </p:sp>
      <p:sp>
        <p:nvSpPr>
          <p:cNvPr id="98" name="Google Shape;98;p15"/>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Examples</a:t>
            </a:r>
            <a:endParaRPr b="1"/>
          </a:p>
          <a:p>
            <a:pPr indent="-342900" lvl="0" marL="457200" rtl="0" algn="l">
              <a:spcBef>
                <a:spcPts val="1200"/>
              </a:spcBef>
              <a:spcAft>
                <a:spcPts val="0"/>
              </a:spcAft>
              <a:buSzPts val="1800"/>
              <a:buChar char="-"/>
            </a:pPr>
            <a:r>
              <a:rPr lang="en"/>
              <a:t>Tailored auto-financing recommendations</a:t>
            </a:r>
            <a:r>
              <a:rPr lang="en"/>
              <a:t> by Capital One’s Chat Concierge</a:t>
            </a:r>
            <a:endParaRPr/>
          </a:p>
          <a:p>
            <a:pPr indent="-342900" lvl="0" marL="457200" rtl="0" algn="l">
              <a:spcBef>
                <a:spcPts val="0"/>
              </a:spcBef>
              <a:spcAft>
                <a:spcPts val="0"/>
              </a:spcAft>
              <a:buSzPts val="1800"/>
              <a:buChar char="-"/>
            </a:pPr>
            <a:r>
              <a:rPr lang="en"/>
              <a:t>JPMorgan Chase’s </a:t>
            </a:r>
            <a:r>
              <a:rPr lang="en"/>
              <a:t>AI assistants</a:t>
            </a:r>
            <a:r>
              <a:rPr lang="en"/>
              <a:t> for micro-personalization</a:t>
            </a:r>
            <a:endParaRPr/>
          </a:p>
          <a:p>
            <a:pPr indent="-342900" lvl="0" marL="457200" rtl="0" algn="l">
              <a:spcBef>
                <a:spcPts val="0"/>
              </a:spcBef>
              <a:spcAft>
                <a:spcPts val="0"/>
              </a:spcAft>
              <a:buSzPts val="1800"/>
              <a:buChar char="-"/>
            </a:pPr>
            <a:r>
              <a:rPr lang="en"/>
              <a:t>Order tracking </a:t>
            </a:r>
            <a:r>
              <a:rPr lang="en"/>
              <a:t>powered by Apple Intelligence</a:t>
            </a:r>
            <a:endParaRPr/>
          </a:p>
          <a:p>
            <a:pPr indent="-342900" lvl="0" marL="457200" rtl="0" algn="l">
              <a:spcBef>
                <a:spcPts val="0"/>
              </a:spcBef>
              <a:spcAft>
                <a:spcPts val="0"/>
              </a:spcAft>
              <a:buSzPts val="1800"/>
              <a:buChar char="-"/>
            </a:pPr>
            <a:r>
              <a:rPr lang="en"/>
              <a:t>Google Wallet’s </a:t>
            </a:r>
            <a:r>
              <a:rPr lang="en"/>
              <a:t>travel-friendly features</a:t>
            </a:r>
            <a:endParaRPr/>
          </a:p>
          <a:p>
            <a:pPr indent="0" lvl="0" marL="0" rtl="0" algn="l">
              <a:spcBef>
                <a:spcPts val="1200"/>
              </a:spcBef>
              <a:spcAft>
                <a:spcPts val="0"/>
              </a:spcAft>
              <a:buNone/>
            </a:pPr>
            <a:r>
              <a:t/>
            </a:r>
            <a:endParaRPr b="1"/>
          </a:p>
          <a:p>
            <a:pPr indent="0" lvl="0" marL="0" rtl="0" algn="l">
              <a:spcBef>
                <a:spcPts val="1200"/>
              </a:spcBef>
              <a:spcAft>
                <a:spcPts val="1200"/>
              </a:spcAft>
              <a:buNone/>
            </a:pPr>
            <a:r>
              <a:rPr b="1" lang="en"/>
              <a:t>So, what makes our solution stand out from these?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6"/>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MatchAI?</a:t>
            </a:r>
            <a:endParaRPr/>
          </a:p>
        </p:txBody>
      </p:sp>
      <p:sp>
        <p:nvSpPr>
          <p:cNvPr id="104" name="Google Shape;104;p16"/>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 </a:t>
            </a:r>
            <a:r>
              <a:rPr b="1" lang="en"/>
              <a:t>GenAI-driven matchmaking engine</a:t>
            </a:r>
            <a:r>
              <a:rPr lang="en"/>
              <a:t> integrated into the AmEx mobile app</a:t>
            </a:r>
            <a:endParaRPr/>
          </a:p>
          <a:p>
            <a:pPr indent="-342900" lvl="0" marL="457200" rtl="0" algn="l">
              <a:spcBef>
                <a:spcPts val="1200"/>
              </a:spcBef>
              <a:spcAft>
                <a:spcPts val="0"/>
              </a:spcAft>
              <a:buSzPts val="1800"/>
              <a:buChar char="-"/>
            </a:pPr>
            <a:r>
              <a:rPr lang="en"/>
              <a:t>Leverage neural networks and generative AI to intelligently connect merchants and consumers</a:t>
            </a:r>
            <a:endParaRPr/>
          </a:p>
          <a:p>
            <a:pPr indent="-342900" lvl="0" marL="457200" rtl="0" algn="l">
              <a:spcBef>
                <a:spcPts val="0"/>
              </a:spcBef>
              <a:spcAft>
                <a:spcPts val="0"/>
              </a:spcAft>
              <a:buSzPts val="1800"/>
              <a:buChar char="-"/>
            </a:pPr>
            <a:r>
              <a:rPr lang="en"/>
              <a:t>Offer personalized, contextual, and adaptive deals to consumers</a:t>
            </a:r>
            <a:endParaRPr/>
          </a:p>
          <a:p>
            <a:pPr indent="-342900" lvl="0" marL="457200" rtl="0" algn="l">
              <a:spcBef>
                <a:spcPts val="0"/>
              </a:spcBef>
              <a:spcAft>
                <a:spcPts val="0"/>
              </a:spcAft>
              <a:buSzPts val="1800"/>
              <a:buChar char="-"/>
            </a:pPr>
            <a:r>
              <a:rPr lang="en"/>
              <a:t>Assist merchants in business expansion through real-time support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7"/>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MatchAI?</a:t>
            </a:r>
            <a:endParaRPr/>
          </a:p>
        </p:txBody>
      </p:sp>
      <p:sp>
        <p:nvSpPr>
          <p:cNvPr id="110" name="Google Shape;110;p17"/>
          <p:cNvSpPr txBox="1"/>
          <p:nvPr>
            <p:ph idx="1" type="body"/>
          </p:nvPr>
        </p:nvSpPr>
        <p:spPr>
          <a:xfrm>
            <a:off x="311700" y="1229875"/>
            <a:ext cx="8520600" cy="33390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a:t>Productivity</a:t>
            </a:r>
            <a:endParaRPr/>
          </a:p>
          <a:p>
            <a:pPr indent="0" lvl="0" marL="0" rtl="0" algn="l">
              <a:spcBef>
                <a:spcPts val="1200"/>
              </a:spcBef>
              <a:spcAft>
                <a:spcPts val="0"/>
              </a:spcAft>
              <a:buNone/>
            </a:pPr>
            <a:r>
              <a:rPr lang="en"/>
              <a:t>Automatic: allowing reallocation of staff to higher-level strategic work</a:t>
            </a:r>
            <a:endParaRPr/>
          </a:p>
          <a:p>
            <a:pPr indent="0" lvl="0" marL="0" rtl="0" algn="l">
              <a:spcBef>
                <a:spcPts val="1200"/>
              </a:spcBef>
              <a:spcAft>
                <a:spcPts val="0"/>
              </a:spcAft>
              <a:buNone/>
            </a:pPr>
            <a:r>
              <a:rPr b="1" lang="en"/>
              <a:t>Protection</a:t>
            </a:r>
            <a:endParaRPr/>
          </a:p>
          <a:p>
            <a:pPr indent="0" lvl="0" marL="0" rtl="0" algn="l">
              <a:spcBef>
                <a:spcPts val="1200"/>
              </a:spcBef>
              <a:spcAft>
                <a:spcPts val="0"/>
              </a:spcAft>
              <a:buNone/>
            </a:pPr>
            <a:r>
              <a:rPr lang="en"/>
              <a:t>Closed-loop model: ensuring full data ownership</a:t>
            </a:r>
            <a:endParaRPr/>
          </a:p>
          <a:p>
            <a:pPr indent="0" lvl="0" marL="0" rtl="0" algn="l">
              <a:spcBef>
                <a:spcPts val="1200"/>
              </a:spcBef>
              <a:spcAft>
                <a:spcPts val="0"/>
              </a:spcAft>
              <a:buNone/>
            </a:pPr>
            <a:r>
              <a:rPr b="1" lang="en"/>
              <a:t>Growth</a:t>
            </a:r>
            <a:endParaRPr/>
          </a:p>
          <a:p>
            <a:pPr indent="0" lvl="0" marL="0" rtl="0" algn="l">
              <a:spcBef>
                <a:spcPts val="1200"/>
              </a:spcBef>
              <a:spcAft>
                <a:spcPts val="0"/>
              </a:spcAft>
              <a:buNone/>
            </a:pPr>
            <a:r>
              <a:rPr lang="en"/>
              <a:t>Transparent reward-enabled system offering detailed insights to merchants</a:t>
            </a:r>
            <a:endParaRPr/>
          </a:p>
          <a:p>
            <a:pPr indent="0" lvl="0" marL="0" rtl="0" algn="l">
              <a:spcBef>
                <a:spcPts val="1200"/>
              </a:spcBef>
              <a:spcAft>
                <a:spcPts val="1200"/>
              </a:spcAft>
              <a:buNone/>
            </a:pPr>
            <a:r>
              <a:rPr lang="en"/>
              <a:t>Feedback loop driving both consumer engagement and						merchant performance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8"/>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Architecture</a:t>
            </a:r>
            <a:endParaRPr/>
          </a:p>
        </p:txBody>
      </p:sp>
      <p:sp>
        <p:nvSpPr>
          <p:cNvPr id="116" name="Google Shape;116;p18"/>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What MatchAI </a:t>
            </a:r>
            <a:r>
              <a:rPr lang="en"/>
              <a:t>really looks like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9"/>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High-Level Architecture</a:t>
            </a:r>
            <a:endParaRPr/>
          </a:p>
        </p:txBody>
      </p:sp>
      <p:sp>
        <p:nvSpPr>
          <p:cNvPr id="122" name="Google Shape;122;p19"/>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Modular, GenAI-powered plugin within AmEx ecosystem</a:t>
            </a:r>
            <a:endParaRPr/>
          </a:p>
          <a:p>
            <a:pPr indent="0" lvl="0" marL="0" rtl="0" algn="l">
              <a:spcBef>
                <a:spcPts val="1200"/>
              </a:spcBef>
              <a:spcAft>
                <a:spcPts val="0"/>
              </a:spcAft>
              <a:buNone/>
            </a:pPr>
            <a:r>
              <a:rPr lang="en"/>
              <a:t>Accessible from American Express mobile app</a:t>
            </a:r>
            <a:endParaRPr/>
          </a:p>
          <a:p>
            <a:pPr indent="0" lvl="0" marL="0" rtl="0" algn="l">
              <a:spcBef>
                <a:spcPts val="1200"/>
              </a:spcBef>
              <a:spcAft>
                <a:spcPts val="0"/>
              </a:spcAft>
              <a:buNone/>
            </a:pPr>
            <a:r>
              <a:t/>
            </a:r>
            <a:endParaRPr/>
          </a:p>
          <a:p>
            <a:pPr indent="0" lvl="0" marL="0" rtl="0" algn="l">
              <a:spcBef>
                <a:spcPts val="1200"/>
              </a:spcBef>
              <a:spcAft>
                <a:spcPts val="0"/>
              </a:spcAft>
              <a:buNone/>
            </a:pPr>
            <a:r>
              <a:rPr b="1" lang="en"/>
              <a:t>Layers</a:t>
            </a:r>
            <a:endParaRPr b="1"/>
          </a:p>
          <a:p>
            <a:pPr indent="-342900" lvl="0" marL="457200" rtl="0" algn="l">
              <a:spcBef>
                <a:spcPts val="1200"/>
              </a:spcBef>
              <a:spcAft>
                <a:spcPts val="0"/>
              </a:spcAft>
              <a:buSzPts val="1800"/>
              <a:buChar char="-"/>
            </a:pPr>
            <a:r>
              <a:rPr lang="en"/>
              <a:t>Data Ingestion</a:t>
            </a:r>
            <a:endParaRPr/>
          </a:p>
          <a:p>
            <a:pPr indent="-342900" lvl="0" marL="457200" rtl="0" algn="l">
              <a:spcBef>
                <a:spcPts val="0"/>
              </a:spcBef>
              <a:spcAft>
                <a:spcPts val="0"/>
              </a:spcAft>
              <a:buSzPts val="1800"/>
              <a:buChar char="-"/>
            </a:pPr>
            <a:r>
              <a:rPr lang="en"/>
              <a:t>Matchmaking</a:t>
            </a:r>
            <a:endParaRPr/>
          </a:p>
          <a:p>
            <a:pPr indent="-342900" lvl="0" marL="457200" rtl="0" algn="l">
              <a:spcBef>
                <a:spcPts val="0"/>
              </a:spcBef>
              <a:spcAft>
                <a:spcPts val="0"/>
              </a:spcAft>
              <a:buSzPts val="1800"/>
              <a:buChar char="-"/>
            </a:pPr>
            <a:r>
              <a:rPr lang="en"/>
              <a:t>Output Generation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0"/>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Ingestion Layer</a:t>
            </a:r>
            <a:endParaRPr/>
          </a:p>
        </p:txBody>
      </p:sp>
      <p:sp>
        <p:nvSpPr>
          <p:cNvPr id="128" name="Google Shape;128;p20"/>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Approach</a:t>
            </a:r>
            <a:endParaRPr/>
          </a:p>
          <a:p>
            <a:pPr indent="0" lvl="0" marL="0" rtl="0" algn="l">
              <a:spcBef>
                <a:spcPts val="1200"/>
              </a:spcBef>
              <a:spcAft>
                <a:spcPts val="0"/>
              </a:spcAft>
              <a:buNone/>
            </a:pPr>
            <a:r>
              <a:rPr lang="en"/>
              <a:t>Generative AI used for feature extraction from raw consumer/merchant/contextual data accessed through secure APIs</a:t>
            </a:r>
            <a:endParaRPr/>
          </a:p>
          <a:p>
            <a:pPr indent="0" lvl="0" marL="0" rtl="0" algn="l">
              <a:spcBef>
                <a:spcPts val="1200"/>
              </a:spcBef>
              <a:spcAft>
                <a:spcPts val="0"/>
              </a:spcAft>
              <a:buNone/>
            </a:pPr>
            <a:r>
              <a:rPr b="1" lang="en"/>
              <a:t>Contextual Data</a:t>
            </a:r>
            <a:endParaRPr b="1"/>
          </a:p>
          <a:p>
            <a:pPr indent="0" lvl="0" marL="0" rtl="0" algn="l">
              <a:spcBef>
                <a:spcPts val="1200"/>
              </a:spcBef>
              <a:spcAft>
                <a:spcPts val="1200"/>
              </a:spcAft>
              <a:buNone/>
            </a:pPr>
            <a:r>
              <a:rPr lang="en"/>
              <a:t>Real-time trends (e.g. holidays, payday) and localized preferences with filters for proximity and exposure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1"/>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Ingestion Layer</a:t>
            </a:r>
            <a:endParaRPr/>
          </a:p>
        </p:txBody>
      </p:sp>
      <p:sp>
        <p:nvSpPr>
          <p:cNvPr id="134" name="Google Shape;134;p21"/>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Consumer Data</a:t>
            </a:r>
            <a:endParaRPr b="1"/>
          </a:p>
          <a:p>
            <a:pPr indent="0" lvl="0" marL="0" rtl="0" algn="l">
              <a:spcBef>
                <a:spcPts val="1200"/>
              </a:spcBef>
              <a:spcAft>
                <a:spcPts val="0"/>
              </a:spcAft>
              <a:buNone/>
            </a:pPr>
            <a:r>
              <a:rPr lang="en"/>
              <a:t>Recency / Frequency / Expenditure by Category / Temporal Patterns / Preferences / Geospatial Habits / Engagement / Risk Tolerance</a:t>
            </a:r>
            <a:endParaRPr/>
          </a:p>
          <a:p>
            <a:pPr indent="0" lvl="0" marL="0" rtl="0" algn="l">
              <a:spcBef>
                <a:spcPts val="1200"/>
              </a:spcBef>
              <a:spcAft>
                <a:spcPts val="0"/>
              </a:spcAft>
              <a:buNone/>
            </a:pPr>
            <a:r>
              <a:rPr b="1" lang="en"/>
              <a:t>Merchant Data</a:t>
            </a:r>
            <a:endParaRPr/>
          </a:p>
          <a:p>
            <a:pPr indent="0" lvl="0" marL="0" rtl="0" algn="l">
              <a:spcBef>
                <a:spcPts val="1200"/>
              </a:spcBef>
              <a:spcAft>
                <a:spcPts val="1200"/>
              </a:spcAft>
              <a:buNone/>
            </a:pPr>
            <a:r>
              <a:rPr lang="en"/>
              <a:t>Category / Price Level / Location / Ratings / Seasonality / Traffic / Capacity / Similarity / Offer Performance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2"/>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Matchmaking Layer</a:t>
            </a:r>
            <a:endParaRPr/>
          </a:p>
        </p:txBody>
      </p:sp>
      <p:sp>
        <p:nvSpPr>
          <p:cNvPr id="140" name="Google Shape;140;p22"/>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Core engine powered by machine learning techniques to process consumer/merchant/contextual features extracted to compute scores</a:t>
            </a:r>
            <a:endParaRPr/>
          </a:p>
          <a:p>
            <a:pPr indent="0" lvl="0" marL="0" rtl="0" algn="l">
              <a:spcBef>
                <a:spcPts val="1200"/>
              </a:spcBef>
              <a:spcAft>
                <a:spcPts val="0"/>
              </a:spcAft>
              <a:buNone/>
            </a:pPr>
            <a:r>
              <a:rPr b="1" lang="en"/>
              <a:t>Possible </a:t>
            </a:r>
            <a:r>
              <a:rPr b="1" lang="en"/>
              <a:t>Approach</a:t>
            </a:r>
            <a:endParaRPr b="1"/>
          </a:p>
          <a:p>
            <a:pPr indent="0" lvl="0" marL="0" rtl="0" algn="l">
              <a:spcBef>
                <a:spcPts val="1200"/>
              </a:spcBef>
              <a:spcAft>
                <a:spcPts val="0"/>
              </a:spcAft>
              <a:buNone/>
            </a:pPr>
            <a:r>
              <a:rPr lang="en"/>
              <a:t>“Trio” Neural Network Model</a:t>
            </a:r>
            <a:endParaRPr/>
          </a:p>
          <a:p>
            <a:pPr indent="-342900" lvl="0" marL="457200" rtl="0" algn="l">
              <a:spcBef>
                <a:spcPts val="1200"/>
              </a:spcBef>
              <a:spcAft>
                <a:spcPts val="0"/>
              </a:spcAft>
              <a:buSzPts val="1800"/>
              <a:buChar char="-"/>
            </a:pPr>
            <a:r>
              <a:rPr lang="en"/>
              <a:t>Context: Contextual data (e.g. current time/location) before scoring</a:t>
            </a:r>
            <a:endParaRPr/>
          </a:p>
          <a:p>
            <a:pPr indent="-342900" lvl="0" marL="457200" rtl="0" algn="l">
              <a:spcBef>
                <a:spcPts val="0"/>
              </a:spcBef>
              <a:spcAft>
                <a:spcPts val="0"/>
              </a:spcAft>
              <a:buSzPts val="1800"/>
              <a:buChar char="-"/>
            </a:pPr>
            <a:r>
              <a:rPr lang="en"/>
              <a:t>Consumer: Spending level and preferences</a:t>
            </a:r>
            <a:endParaRPr/>
          </a:p>
          <a:p>
            <a:pPr indent="-342900" lvl="0" marL="457200" rtl="0" algn="l">
              <a:spcBef>
                <a:spcPts val="0"/>
              </a:spcBef>
              <a:spcAft>
                <a:spcPts val="0"/>
              </a:spcAft>
              <a:buSzPts val="1800"/>
              <a:buChar char="-"/>
            </a:pPr>
            <a:r>
              <a:rPr lang="en"/>
              <a:t>Merchant: Characteristics of offers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3"/>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Matchmaking Layer</a:t>
            </a:r>
            <a:endParaRPr/>
          </a:p>
        </p:txBody>
      </p:sp>
      <p:sp>
        <p:nvSpPr>
          <p:cNvPr id="146" name="Google Shape;146;p23"/>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Considerations</a:t>
            </a:r>
            <a:endParaRPr b="1"/>
          </a:p>
          <a:p>
            <a:pPr indent="-342900" lvl="0" marL="457200" rtl="0" algn="l">
              <a:spcBef>
                <a:spcPts val="1200"/>
              </a:spcBef>
              <a:spcAft>
                <a:spcPts val="0"/>
              </a:spcAft>
              <a:buSzPts val="1800"/>
              <a:buChar char="-"/>
            </a:pPr>
            <a:r>
              <a:rPr lang="en"/>
              <a:t>Minimum exposure for small merchants, limit introduced for large merchants</a:t>
            </a:r>
            <a:endParaRPr/>
          </a:p>
          <a:p>
            <a:pPr indent="-342900" lvl="0" marL="457200" rtl="0" algn="l">
              <a:spcBef>
                <a:spcPts val="0"/>
              </a:spcBef>
              <a:spcAft>
                <a:spcPts val="0"/>
              </a:spcAft>
              <a:buSzPts val="1800"/>
              <a:buChar char="-"/>
            </a:pPr>
            <a:r>
              <a:rPr lang="en"/>
              <a:t>Eligibility filters based on legal restrictions by region</a:t>
            </a:r>
            <a:endParaRPr/>
          </a:p>
          <a:p>
            <a:pPr indent="-342900" lvl="0" marL="457200" rtl="0" algn="l">
              <a:spcBef>
                <a:spcPts val="0"/>
              </a:spcBef>
              <a:spcAft>
                <a:spcPts val="0"/>
              </a:spcAft>
              <a:buSzPts val="1800"/>
              <a:buChar char="-"/>
            </a:pPr>
            <a:r>
              <a:rPr lang="en"/>
              <a:t>Demographic-based seeding from consented profile data for new users</a:t>
            </a:r>
            <a:endParaRPr/>
          </a:p>
          <a:p>
            <a:pPr indent="-342900" lvl="0" marL="457200" rtl="0" algn="l">
              <a:spcBef>
                <a:spcPts val="0"/>
              </a:spcBef>
              <a:spcAft>
                <a:spcPts val="0"/>
              </a:spcAft>
              <a:buSzPts val="1800"/>
              <a:buChar char="-"/>
            </a:pPr>
            <a:r>
              <a:rPr lang="en"/>
              <a:t>Proxy signals (e.g. category benchmarks) for initial recommendations for new merchants</a:t>
            </a:r>
            <a:endParaRPr/>
          </a:p>
          <a:p>
            <a:pPr indent="-342900" lvl="0" marL="457200" rtl="0" algn="l">
              <a:spcBef>
                <a:spcPts val="0"/>
              </a:spcBef>
              <a:spcAft>
                <a:spcPts val="0"/>
              </a:spcAft>
              <a:buSzPts val="1800"/>
              <a:buChar char="-"/>
            </a:pPr>
            <a:r>
              <a:rPr lang="en"/>
              <a:t>Incorporate bias detection in training data to ensure fairness in model</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Output Generation Layer</a:t>
            </a:r>
            <a:endParaRPr/>
          </a:p>
        </p:txBody>
      </p:sp>
      <p:sp>
        <p:nvSpPr>
          <p:cNvPr id="152" name="Google Shape;152;p2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b="1" lang="en"/>
              <a:t>Translation of NN outputs into natural language</a:t>
            </a:r>
            <a:endParaRPr b="1"/>
          </a:p>
          <a:p>
            <a:pPr indent="0" lvl="0" marL="0" rtl="0" algn="l">
              <a:spcBef>
                <a:spcPts val="1200"/>
              </a:spcBef>
              <a:spcAft>
                <a:spcPts val="0"/>
              </a:spcAft>
              <a:buNone/>
            </a:pPr>
            <a:r>
              <a:rPr lang="en"/>
              <a:t>Provide catered and transparent explanations behind each recommendation through model interpretability tools (e.g. SHAP values, attention visualizations)</a:t>
            </a:r>
            <a:endParaRPr/>
          </a:p>
          <a:p>
            <a:pPr indent="0" lvl="0" marL="0" rtl="0" algn="l">
              <a:spcBef>
                <a:spcPts val="1200"/>
              </a:spcBef>
              <a:spcAft>
                <a:spcPts val="0"/>
              </a:spcAft>
              <a:buNone/>
            </a:pPr>
            <a:r>
              <a:rPr b="1" lang="en"/>
              <a:t>Example</a:t>
            </a:r>
            <a:endParaRPr/>
          </a:p>
          <a:p>
            <a:pPr indent="0" lvl="0" marL="0" rtl="0" algn="l">
              <a:spcBef>
                <a:spcPts val="1200"/>
              </a:spcBef>
              <a:spcAft>
                <a:spcPts val="0"/>
              </a:spcAft>
              <a:buNone/>
            </a:pPr>
            <a:r>
              <a:rPr lang="en"/>
              <a:t>“Based on your recent dining experience at XYZ Coffee, try this exclusive 20% off deal at this nearby artisan cafe.”</a:t>
            </a:r>
            <a:endParaRPr/>
          </a:p>
          <a:p>
            <a:pPr indent="0" lvl="0" marL="0" rtl="0" algn="l">
              <a:spcBef>
                <a:spcPts val="1200"/>
              </a:spcBef>
              <a:spcAft>
                <a:spcPts val="0"/>
              </a:spcAft>
              <a:buNone/>
            </a:pPr>
            <a:r>
              <a:rPr lang="en" u="sng"/>
              <a:t>Why this match?</a:t>
            </a:r>
            <a:endParaRPr u="sng"/>
          </a:p>
          <a:p>
            <a:pPr indent="0" lvl="0" marL="0" rtl="0" algn="l">
              <a:spcBef>
                <a:spcPts val="1200"/>
              </a:spcBef>
              <a:spcAft>
                <a:spcPts val="0"/>
              </a:spcAft>
              <a:buNone/>
            </a:pPr>
            <a:r>
              <a:rPr lang="en"/>
              <a:t>I</a:t>
            </a:r>
            <a:r>
              <a:rPr lang="en"/>
              <a:t>t matches your preference for highly-rated, mid-range coffee.</a:t>
            </a:r>
            <a:endParaRPr/>
          </a:p>
          <a:p>
            <a:pPr indent="0" lvl="0" marL="0" rtl="0" algn="l">
              <a:spcBef>
                <a:spcPts val="1200"/>
              </a:spcBef>
              <a:spcAft>
                <a:spcPts val="12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5"/>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Output Generation Layer</a:t>
            </a:r>
            <a:endParaRPr/>
          </a:p>
        </p:txBody>
      </p:sp>
      <p:sp>
        <p:nvSpPr>
          <p:cNvPr id="158" name="Google Shape;158;p25"/>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Merchant Analytics</a:t>
            </a:r>
            <a:endParaRPr b="1"/>
          </a:p>
          <a:p>
            <a:pPr indent="0" lvl="0" marL="0" rtl="0" algn="l">
              <a:spcBef>
                <a:spcPts val="1200"/>
              </a:spcBef>
              <a:spcAft>
                <a:spcPts val="0"/>
              </a:spcAft>
              <a:buNone/>
            </a:pPr>
            <a:r>
              <a:rPr lang="en"/>
              <a:t>Break down complex data and summarize in human-interpretable form</a:t>
            </a:r>
            <a:endParaRPr/>
          </a:p>
          <a:p>
            <a:pPr indent="0" lvl="0" marL="0" rtl="0" algn="l">
              <a:spcBef>
                <a:spcPts val="1200"/>
              </a:spcBef>
              <a:spcAft>
                <a:spcPts val="0"/>
              </a:spcAft>
              <a:buNone/>
            </a:pPr>
            <a:r>
              <a:rPr lang="en"/>
              <a:t>Identify best performing offers and suggest </a:t>
            </a:r>
            <a:r>
              <a:rPr lang="en"/>
              <a:t>new</a:t>
            </a:r>
            <a:r>
              <a:rPr lang="en"/>
              <a:t> offers</a:t>
            </a:r>
            <a:endParaRPr/>
          </a:p>
          <a:p>
            <a:pPr indent="0" lvl="0" marL="0" rtl="0" algn="l">
              <a:spcBef>
                <a:spcPts val="1200"/>
              </a:spcBef>
              <a:spcAft>
                <a:spcPts val="0"/>
              </a:spcAft>
              <a:buNone/>
            </a:pPr>
            <a:r>
              <a:rPr b="1" lang="en"/>
              <a:t>Example</a:t>
            </a:r>
            <a:endParaRPr b="1"/>
          </a:p>
          <a:p>
            <a:pPr indent="0" lvl="0" marL="0" rtl="0" algn="l">
              <a:spcBef>
                <a:spcPts val="1200"/>
              </a:spcBef>
              <a:spcAft>
                <a:spcPts val="1200"/>
              </a:spcAft>
              <a:buNone/>
            </a:pPr>
            <a:r>
              <a:rPr lang="en"/>
              <a:t>“Your sales increased by 24% last month! Your best product was Kung Pao Chicken Student Set Meal. Would you like to create a deal for Laziji Student Set Meal too?”</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6"/>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Output Generation Layer</a:t>
            </a:r>
            <a:endParaRPr/>
          </a:p>
        </p:txBody>
      </p:sp>
      <p:sp>
        <p:nvSpPr>
          <p:cNvPr id="164" name="Google Shape;164;p26"/>
          <p:cNvSpPr txBox="1"/>
          <p:nvPr>
            <p:ph idx="1" type="body"/>
          </p:nvPr>
        </p:nvSpPr>
        <p:spPr>
          <a:xfrm>
            <a:off x="311700" y="1229875"/>
            <a:ext cx="8520600" cy="33390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b="1" lang="en"/>
              <a:t>Bundled Deals</a:t>
            </a:r>
            <a:endParaRPr b="1"/>
          </a:p>
          <a:p>
            <a:pPr indent="0" lvl="0" marL="0" rtl="0" algn="l">
              <a:spcBef>
                <a:spcPts val="1200"/>
              </a:spcBef>
              <a:spcAft>
                <a:spcPts val="0"/>
              </a:spcAft>
              <a:buNone/>
            </a:pPr>
            <a:r>
              <a:rPr lang="en"/>
              <a:t>Suggest new potential interests to consumers via bundled deals</a:t>
            </a:r>
            <a:endParaRPr/>
          </a:p>
          <a:p>
            <a:pPr indent="0" lvl="0" marL="0" rtl="0" algn="l">
              <a:spcBef>
                <a:spcPts val="1200"/>
              </a:spcBef>
              <a:spcAft>
                <a:spcPts val="0"/>
              </a:spcAft>
              <a:buNone/>
            </a:pPr>
            <a:r>
              <a:rPr b="1" lang="en"/>
              <a:t>Example</a:t>
            </a:r>
            <a:endParaRPr/>
          </a:p>
          <a:p>
            <a:pPr indent="0" lvl="0" marL="0" rtl="0" algn="l">
              <a:spcBef>
                <a:spcPts val="1200"/>
              </a:spcBef>
              <a:spcAft>
                <a:spcPts val="0"/>
              </a:spcAft>
              <a:buNone/>
            </a:pPr>
            <a:r>
              <a:rPr lang="en"/>
              <a:t>“Pair your meal with a trip to the cinema for a full evening experience!”</a:t>
            </a:r>
            <a:endParaRPr/>
          </a:p>
          <a:p>
            <a:pPr indent="0" lvl="0" marL="0" rtl="0" algn="l">
              <a:spcBef>
                <a:spcPts val="1200"/>
              </a:spcBef>
              <a:spcAft>
                <a:spcPts val="0"/>
              </a:spcAft>
              <a:buNone/>
            </a:pPr>
            <a:r>
              <a:rPr b="1" lang="en"/>
              <a:t>Elements</a:t>
            </a:r>
            <a:endParaRPr/>
          </a:p>
          <a:p>
            <a:pPr indent="-334327" lvl="0" marL="457200" rtl="0" algn="l">
              <a:spcBef>
                <a:spcPts val="1200"/>
              </a:spcBef>
              <a:spcAft>
                <a:spcPts val="0"/>
              </a:spcAft>
              <a:buSzPct val="100000"/>
              <a:buChar char="-"/>
            </a:pPr>
            <a:r>
              <a:rPr lang="en"/>
              <a:t>GenAI for analytics and tailored recommendation messages</a:t>
            </a:r>
            <a:endParaRPr/>
          </a:p>
          <a:p>
            <a:pPr indent="-334327" lvl="0" marL="457200" rtl="0" algn="l">
              <a:spcBef>
                <a:spcPts val="0"/>
              </a:spcBef>
              <a:spcAft>
                <a:spcPts val="0"/>
              </a:spcAft>
              <a:buSzPct val="100000"/>
              <a:buChar char="-"/>
            </a:pPr>
            <a:r>
              <a:rPr lang="en"/>
              <a:t>In-app notifications, personalized dashboard, or interactive chat for deal exploration for consumers and insights for merchants</a:t>
            </a:r>
            <a:endParaRPr/>
          </a:p>
          <a:p>
            <a:pPr indent="0" lvl="0" marL="0" rtl="0" algn="l">
              <a:spcBef>
                <a:spcPts val="1200"/>
              </a:spcBef>
              <a:spcAft>
                <a:spcPts val="12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7"/>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Demo</a:t>
            </a:r>
            <a:endParaRPr/>
          </a:p>
        </p:txBody>
      </p:sp>
      <p:sp>
        <p:nvSpPr>
          <p:cNvPr id="170" name="Google Shape;170;p27"/>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fontScale="92500" lnSpcReduction="20000"/>
          </a:bodyPr>
          <a:lstStyle/>
          <a:p>
            <a:pPr indent="0" lvl="0" marL="0" rtl="0" algn="r">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8"/>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Info</a:t>
            </a:r>
            <a:endParaRPr/>
          </a:p>
        </p:txBody>
      </p:sp>
      <p:sp>
        <p:nvSpPr>
          <p:cNvPr id="176" name="Google Shape;176;p28"/>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Model Used</a:t>
            </a:r>
            <a:endParaRPr/>
          </a:p>
          <a:p>
            <a:pPr indent="0" lvl="0" marL="0" rtl="0" algn="l">
              <a:spcBef>
                <a:spcPts val="1200"/>
              </a:spcBef>
              <a:spcAft>
                <a:spcPts val="0"/>
              </a:spcAft>
              <a:buNone/>
            </a:pPr>
            <a:r>
              <a:rPr lang="en"/>
              <a:t>GPT-3.5-Turbo (fast &amp; affordable)</a:t>
            </a:r>
            <a:endParaRPr/>
          </a:p>
          <a:p>
            <a:pPr indent="0" lvl="0" marL="0" rtl="0" algn="l">
              <a:spcBef>
                <a:spcPts val="1200"/>
              </a:spcBef>
              <a:spcAft>
                <a:spcPts val="0"/>
              </a:spcAft>
              <a:buNone/>
            </a:pPr>
            <a:r>
              <a:rPr b="1" lang="en"/>
              <a:t>Pipeline</a:t>
            </a:r>
            <a:endParaRPr/>
          </a:p>
          <a:p>
            <a:pPr indent="0" lvl="0" marL="0" rtl="0" algn="l">
              <a:spcBef>
                <a:spcPts val="1200"/>
              </a:spcBef>
              <a:spcAft>
                <a:spcPts val="1200"/>
              </a:spcAft>
              <a:buNone/>
            </a:pPr>
            <a:r>
              <a:rPr lang="en"/>
              <a:t>User Input   &gt;&gt;   Select Customer   &gt;&gt;   Extract Parameters (OpenAI)   &gt;&gt;			Filter &amp; Score Merchants by Compatibility   &gt;&gt;   Generate Offer (OpenAI) &gt;&gt; 	Display &amp; Log</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9"/>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Implementation Plan</a:t>
            </a:r>
            <a:endParaRPr/>
          </a:p>
        </p:txBody>
      </p:sp>
      <p:sp>
        <p:nvSpPr>
          <p:cNvPr id="182" name="Google Shape;182;p29"/>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How we can bring MatchAI to life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0"/>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Feasibility &amp; Applicability</a:t>
            </a:r>
            <a:endParaRPr/>
          </a:p>
        </p:txBody>
      </p:sp>
      <p:sp>
        <p:nvSpPr>
          <p:cNvPr id="188" name="Google Shape;188;p30"/>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Technical</a:t>
            </a:r>
            <a:endParaRPr/>
          </a:p>
          <a:p>
            <a:pPr indent="0" lvl="0" marL="0" rtl="0" algn="l">
              <a:spcBef>
                <a:spcPts val="1200"/>
              </a:spcBef>
              <a:spcAft>
                <a:spcPts val="0"/>
              </a:spcAft>
              <a:buNone/>
            </a:pPr>
            <a:r>
              <a:rPr lang="en"/>
              <a:t>Builds on AmEx’s AI heritage and closed-loop data model</a:t>
            </a:r>
            <a:endParaRPr/>
          </a:p>
          <a:p>
            <a:pPr indent="0" lvl="0" marL="0" rtl="0" algn="l">
              <a:spcBef>
                <a:spcPts val="1200"/>
              </a:spcBef>
              <a:spcAft>
                <a:spcPts val="0"/>
              </a:spcAft>
              <a:buNone/>
            </a:pPr>
            <a:r>
              <a:rPr b="1" lang="en"/>
              <a:t>Business</a:t>
            </a:r>
            <a:endParaRPr/>
          </a:p>
          <a:p>
            <a:pPr indent="0" lvl="0" marL="0" rtl="0" algn="l">
              <a:spcBef>
                <a:spcPts val="1200"/>
              </a:spcBef>
              <a:spcAft>
                <a:spcPts val="0"/>
              </a:spcAft>
              <a:buNone/>
            </a:pPr>
            <a:r>
              <a:rPr lang="en"/>
              <a:t>Low initial cost for leveraging existing infrastructure, high ROI through growth in transactions and partnerships</a:t>
            </a:r>
            <a:endParaRPr/>
          </a:p>
          <a:p>
            <a:pPr indent="0" lvl="0" marL="0" rtl="0" algn="l">
              <a:spcBef>
                <a:spcPts val="1200"/>
              </a:spcBef>
              <a:spcAft>
                <a:spcPts val="0"/>
              </a:spcAft>
              <a:buNone/>
            </a:pPr>
            <a:r>
              <a:rPr b="1" lang="en"/>
              <a:t>Sustainability</a:t>
            </a:r>
            <a:endParaRPr/>
          </a:p>
          <a:p>
            <a:pPr indent="0" lvl="0" marL="0" rtl="0" algn="l">
              <a:spcBef>
                <a:spcPts val="1200"/>
              </a:spcBef>
              <a:spcAft>
                <a:spcPts val="1200"/>
              </a:spcAft>
              <a:buNone/>
            </a:pPr>
            <a:r>
              <a:rPr lang="en"/>
              <a:t>Modular design for maintainability amidst evolution of GenAI</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1"/>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Timeline</a:t>
            </a:r>
            <a:endParaRPr/>
          </a:p>
        </p:txBody>
      </p:sp>
      <p:sp>
        <p:nvSpPr>
          <p:cNvPr id="194" name="Google Shape;194;p31"/>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Months 1-2: Ideation &amp; Prototyping</a:t>
            </a:r>
            <a:endParaRPr/>
          </a:p>
          <a:p>
            <a:pPr indent="0" lvl="0" marL="0" rtl="0" algn="l">
              <a:spcBef>
                <a:spcPts val="1200"/>
              </a:spcBef>
              <a:spcAft>
                <a:spcPts val="0"/>
              </a:spcAft>
              <a:buNone/>
            </a:pPr>
            <a:r>
              <a:rPr lang="en"/>
              <a:t>Months 2-3: Development &amp; Testing</a:t>
            </a:r>
            <a:endParaRPr/>
          </a:p>
          <a:p>
            <a:pPr indent="0" lvl="0" marL="0" rtl="0" algn="l">
              <a:spcBef>
                <a:spcPts val="1200"/>
              </a:spcBef>
              <a:spcAft>
                <a:spcPts val="1200"/>
              </a:spcAft>
              <a:buNone/>
            </a:pPr>
            <a:r>
              <a:rPr lang="en"/>
              <a:t>Months 3-6: Launch &amp; Scaling</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2"/>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Ideation &amp; Prototyping</a:t>
            </a:r>
            <a:endParaRPr/>
          </a:p>
        </p:txBody>
      </p:sp>
      <p:sp>
        <p:nvSpPr>
          <p:cNvPr id="200" name="Google Shape;200;p32"/>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Milestone</a:t>
            </a:r>
            <a:endParaRPr/>
          </a:p>
          <a:p>
            <a:pPr indent="0" lvl="0" marL="0" rtl="0" algn="l">
              <a:spcBef>
                <a:spcPts val="1200"/>
              </a:spcBef>
              <a:spcAft>
                <a:spcPts val="0"/>
              </a:spcAft>
              <a:buNone/>
            </a:pPr>
            <a:r>
              <a:rPr lang="en"/>
              <a:t>Build proof-of-concept and test matchmaking accuracy with mock data</a:t>
            </a:r>
            <a:endParaRPr/>
          </a:p>
          <a:p>
            <a:pPr indent="0" lvl="0" marL="0" rtl="0" algn="l">
              <a:spcBef>
                <a:spcPts val="1200"/>
              </a:spcBef>
              <a:spcAft>
                <a:spcPts val="0"/>
              </a:spcAft>
              <a:buNone/>
            </a:pPr>
            <a:r>
              <a:rPr b="1" lang="en"/>
              <a:t>Action</a:t>
            </a:r>
            <a:endParaRPr/>
          </a:p>
          <a:p>
            <a:pPr indent="0" lvl="0" marL="0" rtl="0" algn="l">
              <a:spcBef>
                <a:spcPts val="1200"/>
              </a:spcBef>
              <a:spcAft>
                <a:spcPts val="0"/>
              </a:spcAft>
              <a:buNone/>
            </a:pPr>
            <a:r>
              <a:rPr lang="en"/>
              <a:t>Form cross-disciplinary teams (engineers, data scientists, product managers, etc.)</a:t>
            </a:r>
            <a:endParaRPr/>
          </a:p>
          <a:p>
            <a:pPr indent="0" lvl="0" marL="0" rtl="0" algn="l">
              <a:spcBef>
                <a:spcPts val="1200"/>
              </a:spcBef>
              <a:spcAft>
                <a:spcPts val="1200"/>
              </a:spcAft>
              <a:buNone/>
            </a:pPr>
            <a:r>
              <a:rPr lang="en"/>
              <a:t>Develop MVP with GenAI tools integrated with mock AmEx APIs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3"/>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Development &amp; Testing</a:t>
            </a:r>
            <a:endParaRPr/>
          </a:p>
        </p:txBody>
      </p:sp>
      <p:sp>
        <p:nvSpPr>
          <p:cNvPr id="206" name="Google Shape;206;p33"/>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Milestone</a:t>
            </a:r>
            <a:endParaRPr/>
          </a:p>
          <a:p>
            <a:pPr indent="0" lvl="0" marL="0" rtl="0" algn="l">
              <a:spcBef>
                <a:spcPts val="1200"/>
              </a:spcBef>
              <a:spcAft>
                <a:spcPts val="0"/>
              </a:spcAft>
              <a:buNone/>
            </a:pPr>
            <a:r>
              <a:rPr lang="en"/>
              <a:t>Certification for </a:t>
            </a:r>
            <a:r>
              <a:rPr lang="en"/>
              <a:t>compliance</a:t>
            </a:r>
            <a:r>
              <a:rPr lang="en"/>
              <a:t> (e.g. SOC 2)</a:t>
            </a:r>
            <a:endParaRPr/>
          </a:p>
          <a:p>
            <a:pPr indent="0" lvl="0" marL="0" rtl="0" algn="l">
              <a:spcBef>
                <a:spcPts val="1200"/>
              </a:spcBef>
              <a:spcAft>
                <a:spcPts val="0"/>
              </a:spcAft>
              <a:buNone/>
            </a:pPr>
            <a:r>
              <a:rPr lang="en"/>
              <a:t>Refine NN models with American Express’s expertise in fraud detection</a:t>
            </a:r>
            <a:endParaRPr/>
          </a:p>
          <a:p>
            <a:pPr indent="0" lvl="0" marL="0" rtl="0" algn="l">
              <a:spcBef>
                <a:spcPts val="1200"/>
              </a:spcBef>
              <a:spcAft>
                <a:spcPts val="0"/>
              </a:spcAft>
              <a:buNone/>
            </a:pPr>
            <a:r>
              <a:rPr b="1" lang="en"/>
              <a:t>Action</a:t>
            </a:r>
            <a:endParaRPr/>
          </a:p>
          <a:p>
            <a:pPr indent="0" lvl="0" marL="0" rtl="0" algn="l">
              <a:spcBef>
                <a:spcPts val="1200"/>
              </a:spcBef>
              <a:spcAft>
                <a:spcPts val="0"/>
              </a:spcAft>
              <a:buNone/>
            </a:pPr>
            <a:r>
              <a:rPr lang="en"/>
              <a:t>Deploy with real data and implement protective features</a:t>
            </a:r>
            <a:endParaRPr/>
          </a:p>
          <a:p>
            <a:pPr indent="0" lvl="0" marL="0" rtl="0" algn="l">
              <a:spcBef>
                <a:spcPts val="1200"/>
              </a:spcBef>
              <a:spcAft>
                <a:spcPts val="0"/>
              </a:spcAft>
              <a:buNone/>
            </a:pPr>
            <a:r>
              <a:rPr lang="en"/>
              <a:t>A/B test for user engagement and merchant feedback</a:t>
            </a:r>
            <a:endParaRPr/>
          </a:p>
          <a:p>
            <a:pPr indent="0" lvl="0" marL="0" rtl="0" algn="l">
              <a:spcBef>
                <a:spcPts val="1200"/>
              </a:spcBef>
              <a:spcAft>
                <a:spcPts val="1200"/>
              </a:spcAft>
              <a:buNone/>
            </a:pPr>
            <a:r>
              <a:rPr lang="en"/>
              <a:t>Ethical AI review and piloting to monitor biases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Milestone</a:t>
            </a:r>
            <a:endParaRPr/>
          </a:p>
          <a:p>
            <a:pPr indent="0" lvl="0" marL="0" rtl="0" algn="l">
              <a:spcBef>
                <a:spcPts val="1200"/>
              </a:spcBef>
              <a:spcAft>
                <a:spcPts val="0"/>
              </a:spcAft>
              <a:buNone/>
            </a:pPr>
            <a:r>
              <a:rPr lang="en"/>
              <a:t>Full product launch + initiate partnership program with merchants</a:t>
            </a:r>
            <a:endParaRPr/>
          </a:p>
          <a:p>
            <a:pPr indent="0" lvl="0" marL="0" rtl="0" algn="l">
              <a:spcBef>
                <a:spcPts val="1200"/>
              </a:spcBef>
              <a:spcAft>
                <a:spcPts val="0"/>
              </a:spcAft>
              <a:buNone/>
            </a:pPr>
            <a:r>
              <a:rPr b="1" lang="en"/>
              <a:t>Action</a:t>
            </a:r>
            <a:endParaRPr/>
          </a:p>
          <a:p>
            <a:pPr indent="0" lvl="0" marL="0" rtl="0" algn="l">
              <a:spcBef>
                <a:spcPts val="1200"/>
              </a:spcBef>
              <a:spcAft>
                <a:spcPts val="0"/>
              </a:spcAft>
              <a:buNone/>
            </a:pPr>
            <a:r>
              <a:rPr lang="en"/>
              <a:t>Roll out as beta feature and begin partnership program in selected regions</a:t>
            </a:r>
            <a:endParaRPr/>
          </a:p>
          <a:p>
            <a:pPr indent="0" lvl="0" marL="0" rtl="0" algn="l">
              <a:spcBef>
                <a:spcPts val="1200"/>
              </a:spcBef>
              <a:spcAft>
                <a:spcPts val="0"/>
              </a:spcAft>
              <a:buNone/>
            </a:pPr>
            <a:r>
              <a:rPr lang="en"/>
              <a:t>Marketing campaigns</a:t>
            </a:r>
            <a:r>
              <a:rPr b="1" lang="en"/>
              <a:t> </a:t>
            </a:r>
            <a:r>
              <a:rPr lang="en"/>
              <a:t>to promote partnership to merchants and new feature to consumers</a:t>
            </a:r>
            <a:endParaRPr/>
          </a:p>
          <a:p>
            <a:pPr indent="0" lvl="0" marL="0" rtl="0" algn="l">
              <a:spcBef>
                <a:spcPts val="1200"/>
              </a:spcBef>
              <a:spcAft>
                <a:spcPts val="1200"/>
              </a:spcAft>
              <a:buNone/>
            </a:pPr>
            <a:r>
              <a:rPr lang="en"/>
              <a:t>Monitor KPIs and iterate according to feedback</a:t>
            </a:r>
            <a:endParaRPr/>
          </a:p>
        </p:txBody>
      </p:sp>
      <p:sp>
        <p:nvSpPr>
          <p:cNvPr id="212" name="Google Shape;212;p3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Launch &amp; Scaling</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5"/>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Expectations</a:t>
            </a:r>
            <a:endParaRPr/>
          </a:p>
        </p:txBody>
      </p:sp>
      <p:sp>
        <p:nvSpPr>
          <p:cNvPr id="218" name="Google Shape;218;p35"/>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What will MatchAI bring and why it works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6"/>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Expected Impact</a:t>
            </a:r>
            <a:endParaRPr/>
          </a:p>
        </p:txBody>
      </p:sp>
      <p:sp>
        <p:nvSpPr>
          <p:cNvPr id="224" name="Google Shape;224;p36"/>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For Consumers</a:t>
            </a:r>
            <a:endParaRPr/>
          </a:p>
          <a:p>
            <a:pPr indent="0" lvl="0" marL="0" rtl="0" algn="l">
              <a:spcBef>
                <a:spcPts val="1200"/>
              </a:spcBef>
              <a:spcAft>
                <a:spcPts val="0"/>
              </a:spcAft>
              <a:buNone/>
            </a:pPr>
            <a:r>
              <a:rPr lang="en"/>
              <a:t>Personalized, contextual, and explainable offers + reduced decision fatigue</a:t>
            </a:r>
            <a:endParaRPr/>
          </a:p>
          <a:p>
            <a:pPr indent="0" lvl="0" marL="0" rtl="0" algn="l">
              <a:spcBef>
                <a:spcPts val="1200"/>
              </a:spcBef>
              <a:spcAft>
                <a:spcPts val="0"/>
              </a:spcAft>
              <a:buNone/>
            </a:pPr>
            <a:r>
              <a:rPr b="1" lang="en"/>
              <a:t>For Merchants</a:t>
            </a:r>
            <a:endParaRPr/>
          </a:p>
          <a:p>
            <a:pPr indent="0" lvl="0" marL="0" rtl="0" algn="l">
              <a:spcBef>
                <a:spcPts val="1200"/>
              </a:spcBef>
              <a:spcAft>
                <a:spcPts val="0"/>
              </a:spcAft>
              <a:buNone/>
            </a:pPr>
            <a:r>
              <a:rPr lang="en"/>
              <a:t>Increased exposure and revenues, AI-powered promotions and business insights</a:t>
            </a:r>
            <a:endParaRPr/>
          </a:p>
          <a:p>
            <a:pPr indent="0" lvl="0" marL="0" rtl="0" algn="l">
              <a:spcBef>
                <a:spcPts val="1200"/>
              </a:spcBef>
              <a:spcAft>
                <a:spcPts val="0"/>
              </a:spcAft>
              <a:buNone/>
            </a:pPr>
            <a:r>
              <a:rPr b="1" lang="en"/>
              <a:t>For American Express</a:t>
            </a:r>
            <a:endParaRPr/>
          </a:p>
          <a:p>
            <a:pPr indent="0" lvl="0" marL="0" rtl="0" algn="l">
              <a:spcBef>
                <a:spcPts val="1200"/>
              </a:spcBef>
              <a:spcAft>
                <a:spcPts val="0"/>
              </a:spcAft>
              <a:buNone/>
            </a:pPr>
            <a:r>
              <a:rPr lang="en"/>
              <a:t>Stronger customer &amp; partner loyalty + higher transaction volume</a:t>
            </a:r>
            <a:endParaRPr/>
          </a:p>
          <a:p>
            <a:pPr indent="0" lvl="0" marL="0" rtl="0" algn="l">
              <a:spcBef>
                <a:spcPts val="1200"/>
              </a:spcBef>
              <a:spcAft>
                <a:spcPts val="1200"/>
              </a:spcAft>
              <a:buNone/>
            </a:pPr>
            <a:r>
              <a:rPr lang="en"/>
              <a:t>Sustainable growth of ecosystem</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7"/>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Thank you for listening</a:t>
            </a:r>
            <a:endParaRPr/>
          </a:p>
        </p:txBody>
      </p:sp>
      <p:sp>
        <p:nvSpPr>
          <p:cNvPr id="230" name="Google Shape;230;p37"/>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fontScale="92500" lnSpcReduction="20000"/>
          </a:bodyPr>
          <a:lstStyle/>
          <a:p>
            <a:pPr indent="0" lvl="0" marL="0" rtl="0" algn="r">
              <a:spcBef>
                <a:spcPts val="0"/>
              </a:spcBef>
              <a:spcAft>
                <a:spcPts val="0"/>
              </a:spcAft>
              <a:buNone/>
            </a:pPr>
            <a:r>
              <a:rPr lang="en"/>
              <a:t>– Team Artificial Idiot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